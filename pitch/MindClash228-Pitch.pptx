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60720"/>
            <a:ext cx="12191695" cy="73152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100" kern="0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</a:t>
            </a:r>
            <a:pPr algn="ctr" indent="0" marL="0">
              <a:buNone/>
            </a:pPr>
            <a:r>
              <a:rPr lang="en-US" sz="6000" b="1" spc="100" kern="0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228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D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Explore. Partage. Level-up.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438248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premier moteur de survie géolocalisé pour la diaspora étudiante togolaise au Maroc</a:t>
            </a:r>
            <a:endParaRPr lang="en-US" sz="1300" dirty="0"/>
          </a:p>
        </p:txBody>
      </p:sp>
      <p:pic>
        <p:nvPicPr>
          <p:cNvPr id="6" name="Image 0" descr="C:\Users\Wilfried\OneDrive\Bureau\Wilfried\professionnel\CreaAfrica\assets\brand\CES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49377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Concours CréaAfrica 2026 · Propulsé par CESTOM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0" cy="54864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L'expatriation étudiante, une épreuve de survie individuelle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54298" cy="2377440"/>
          </a:xfrm>
          <a:prstGeom prst="roundRect">
            <a:avLst>
              <a:gd name="adj" fmla="val 3077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Isolement &amp; choc culturel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29970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Codes locaux manquants dès l'arrivée : climat, bureaucratie des préfectures, attentes académiques marocaines. Point de départ documenté d'échecs précoces.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8698" y="2103120"/>
            <a:ext cx="3454298" cy="2377440"/>
          </a:xfrm>
          <a:prstGeom prst="roundRect">
            <a:avLst>
              <a:gd name="adj" fmla="val 3077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7298" y="228600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Information fragmentée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7298" y="2926080"/>
            <a:ext cx="29970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chaotique et non indexable, TikTok qui détourne l'attention, plateformes institutionnelles trop froides pour l'urgence du quotidien.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7317" y="2103120"/>
            <a:ext cx="3454298" cy="2377440"/>
          </a:xfrm>
          <a:prstGeom prst="roundRect">
            <a:avLst>
              <a:gd name="adj" fmla="val 3077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5917" y="228600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Toxicité en meute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5917" y="2926080"/>
            <a:ext cx="29970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Cyberharcèlement, bizutage numérique, signalements abusifs coordonnés par des groupes locaux restreints.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2A2F3B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4632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"Je suis coincé à la gare de Casa-Voyageurs à 23h, qui peut m'héberger ?"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228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Problème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0" cy="54864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 écosystème, pas une masse floue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22144" cy="73152"/>
          </a:xfrm>
          <a:prstGeom prst="rect">
            <a:avLst/>
          </a:prstGeom>
          <a:solidFill>
            <a:srgbClr val="7DD3E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2522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Freshmen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2522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Nouveaux arrivants, désorientés. Émetteurs de Bounties. Besoin : réassurance et intégration rapide.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36544" y="2103120"/>
            <a:ext cx="2522144" cy="73152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8" name="Text 6"/>
          <p:cNvSpPr/>
          <p:nvPr/>
        </p:nvSpPr>
        <p:spPr>
          <a:xfrm>
            <a:off x="3436544" y="2286000"/>
            <a:ext cx="2522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Vétérans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36544" y="3063240"/>
            <a:ext cx="2522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 de cycle, cherchent réputation et legacy avant le marché du travail.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2103120"/>
            <a:ext cx="2522144" cy="73152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1" name="Text 9"/>
          <p:cNvSpPr/>
          <p:nvPr/>
        </p:nvSpPr>
        <p:spPr>
          <a:xfrm>
            <a:off x="6233008" y="2286000"/>
            <a:ext cx="2522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Majorité silencieuse (~70%)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33008" y="3063240"/>
            <a:ext cx="2522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Timides, syndrome de l'imposteur — la cible du Ghost Mode.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29471" y="2103120"/>
            <a:ext cx="2522144" cy="73152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4" name="Text 12"/>
          <p:cNvSpPr/>
          <p:nvPr/>
        </p:nvSpPr>
        <p:spPr>
          <a:xfrm>
            <a:off x="9029471" y="2286000"/>
            <a:ext cx="2522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Gouvernance CESTOM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29471" y="3063240"/>
            <a:ext cx="2522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Bureau Exécutif central (9 rôles) + bureaux locaux (SG/délégués) à géométrie variable.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228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Segments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0" cy="54864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L'Anti-Feed : l'intégration devient une quête, pas un doomscroll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54298" cy="1600200"/>
          </a:xfrm>
          <a:prstGeom prst="roundRect">
            <a:avLst>
              <a:gd name="adj" fmla="val 45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6712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Social-Map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885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 sombre et stylisée qui remplace le newsfeed. L'info n'existe que là où elle a été créée.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68698" y="2057400"/>
            <a:ext cx="3454298" cy="1600200"/>
          </a:xfrm>
          <a:prstGeom prst="roundRect">
            <a:avLst>
              <a:gd name="adj" fmla="val 45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1578" y="216712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Bounties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51578" y="2560320"/>
            <a:ext cx="30885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Entraide chronométrée (2h/12h/24h) — urgence qui force l'action et nettoie la carte.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97317" y="2057400"/>
            <a:ext cx="3454298" cy="1600200"/>
          </a:xfrm>
          <a:prstGeom prst="roundRect">
            <a:avLst>
              <a:gd name="adj" fmla="val 45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216712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Reality-Vlogs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80197" y="2560320"/>
            <a:ext cx="30885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Micro-contenus terrain (15-60s), format qui force la concision.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454298" cy="1600200"/>
          </a:xfrm>
          <a:prstGeom prst="roundRect">
            <a:avLst>
              <a:gd name="adj" fmla="val 45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9592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Ghost Mode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30885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Anonymat réversible : purgatoire d'upvotes avant de lever le voile et encaisser sa réputation.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68698" y="3886200"/>
            <a:ext cx="3454298" cy="1600200"/>
          </a:xfrm>
          <a:prstGeom prst="roundRect">
            <a:avLst>
              <a:gd name="adj" fmla="val 45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1578" y="399592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Modération anti-clan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51578" y="4389120"/>
            <a:ext cx="30885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Quarantaine seulement si plus de 6 signalements viennent de 6 villes distinctes — le raid en meute devient mathématiquement impossible.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7317" y="3886200"/>
            <a:ext cx="3454298" cy="1600200"/>
          </a:xfrm>
          <a:prstGeom prst="roundRect">
            <a:avLst>
              <a:gd name="adj" fmla="val 45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0197" y="3995928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RBAC spatial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0197" y="4389120"/>
            <a:ext cx="30885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Pouvoirs calqués sur la vraie gouvernance CESTOM. Le pouvoir national est volontairement limité — aucune action destructrice unilatérale.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228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Solution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0" cy="54864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 qui est déjà réel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3291840"/>
          </a:xfrm>
          <a:prstGeom prst="roundRect">
            <a:avLst>
              <a:gd name="adj" fmla="val 2778"/>
            </a:avLst>
          </a:prstGeom>
          <a:solidFill>
            <a:srgbClr val="242832"/>
          </a:solidFill>
          <a:ln w="12700">
            <a:solidFill>
              <a:srgbClr val="7DD3E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05840" y="233172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Capture d'écran réelle du noyau MVP — à intégrer ici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101800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▸"/>
            </a:pPr>
            <a:r>
              <a:rPr lang="en-US" sz="1500" dirty="0">
                <a:solidFill>
                  <a:srgbClr val="F4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Social-Map (PostGIS, MapLibre GL JS, clustering)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▸"/>
            </a:pPr>
            <a:r>
              <a:rPr lang="en-US" sz="1500" dirty="0">
                <a:solidFill>
                  <a:srgbClr val="F4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Bounties : créer / réclamer / résoudre / expirer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▸"/>
            </a:pPr>
            <a:r>
              <a:rPr lang="en-US" sz="1500" dirty="0">
                <a:solidFill>
                  <a:srgbClr val="F4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email + mot de passe + Google OAuth, JWT</a:t>
            </a:r>
            <a:endParaRPr lang="en-US" sz="1500" dirty="0"/>
          </a:p>
          <a:p>
            <a:pPr marL="342900" indent="-342900">
              <a:lnSpc>
                <a:spcPct val="160000"/>
              </a:lnSpc>
              <a:buSzPct val="100000"/>
              <a:buChar char="▸"/>
            </a:pPr>
            <a:r>
              <a:rPr lang="en-US" sz="1500" dirty="0">
                <a:solidFill>
                  <a:srgbClr val="F4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à 2 niveaux (national / local), pouvoir national limité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228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Démo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0" cy="54864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Pourquoi ça ne se copie pas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242832"/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514600"/>
            <a:ext cx="4632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Alignement institutionnel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463280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Codé autour des statuts et mandats réels de CESTOM — légitimité culturelle, politique et institutionnelle dès le jour 1. Pas de budget marketing à dépenser pour gagner la confiance.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219456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242832"/>
          </a:solidFill>
          <a:ln w="19050">
            <a:solidFill>
              <a:srgbClr val="7DD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8768" y="2514600"/>
            <a:ext cx="4632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Effet réseau spatial (PostGIS)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98768" y="3246120"/>
            <a:ext cx="463280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Pin (astuce, lieu sûr, piège administratif) rend la carte plus précieuse. Un concurrent naît avec une carte vide — le problème du Cold Start verrouille le marché.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228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Avantage déloyal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0" cy="54864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L'impact d'abord, le revenu ensuite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4864" cy="109728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Impact social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primaire pour CréaAfrica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23360" y="2103120"/>
            <a:ext cx="75282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Détresse psychologique en baisse, réussite académique en hausse, insertion professionnelle via le réseau de mentors (Vétérans).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54864" cy="1097280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Sponsoring local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C1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Monétisation B2C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0" y="3474720"/>
            <a:ext cx="75282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Pins Sponsors dorés géociblés (opérateurs télécoms, banques, agences immobilières) au moment exact où l'étudiant en a besoin.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54864" cy="1097280"/>
          </a:xfrm>
          <a:prstGeom prst="rect">
            <a:avLst/>
          </a:prstGeom>
          <a:solidFill>
            <a:srgbClr val="7DD3E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46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Pivot B2B SaaS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212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Évolutivité commerciale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0" y="4846320"/>
            <a:ext cx="75282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fois éprouvé sur la communauté togolaise, l'architecture (modération spatiale, RBAC, Ghost Mode) devient une marque blanche pour d'autres diasporas.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228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Business model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0" cy="54864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 mesure la dépendance saine, pas les téléchargements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889699" cy="2011680"/>
          </a:xfrm>
          <a:prstGeom prst="roundRect">
            <a:avLst>
              <a:gd name="adj" fmla="val 38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743200"/>
            <a:ext cx="1615379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 30%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161537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DAU / MAU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95539" y="2560320"/>
            <a:ext cx="1889699" cy="2011680"/>
          </a:xfrm>
          <a:prstGeom prst="roundRect">
            <a:avLst>
              <a:gd name="adj" fmla="val 38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2699" y="2743200"/>
            <a:ext cx="1615379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J1 · J7 · J30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32699" y="3794760"/>
            <a:ext cx="161537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Rétention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50998" y="2560320"/>
            <a:ext cx="1889699" cy="2011680"/>
          </a:xfrm>
          <a:prstGeom prst="roundRect">
            <a:avLst>
              <a:gd name="adj" fmla="val 38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8158" y="2743200"/>
            <a:ext cx="1615379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Conso → création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88158" y="3794760"/>
            <a:ext cx="161537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 spectateurs / créateurs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457" y="2560320"/>
            <a:ext cx="1889699" cy="2011680"/>
          </a:xfrm>
          <a:prstGeom prst="roundRect">
            <a:avLst>
              <a:gd name="adj" fmla="val 38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617" y="2743200"/>
            <a:ext cx="1615379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Ghost → Public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43617" y="3794760"/>
            <a:ext cx="161537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Taux de conversion (indicateur d'inclusion)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61916" y="2560320"/>
            <a:ext cx="1889699" cy="2011680"/>
          </a:xfrm>
          <a:prstGeom prst="roundRect">
            <a:avLst>
              <a:gd name="adj" fmla="val 3871"/>
            </a:avLst>
          </a:prstGeom>
          <a:solidFill>
            <a:srgbClr val="242832"/>
          </a:solidFill>
          <a:ln w="12700">
            <a:solidFill>
              <a:srgbClr val="3A3F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99076" y="2743200"/>
            <a:ext cx="1615379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Time-to-Resolve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99076" y="3794760"/>
            <a:ext cx="161537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Vélocité de la solidarité sur les Bounties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228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Traction visée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0" cy="54864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Scale-to-zero : conçu pour l'économie frugale africaine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252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sur Vercel — gratuit au démarrage, edge caching mondial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36544" y="2194560"/>
            <a:ext cx="252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36544" y="269748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NestJS sur Railway/Render — serverless, ~10-20$/mois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33008" y="2194560"/>
            <a:ext cx="252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Données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33008" y="269748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+ PostGIS, Redis (Upstash) — free tier jusqu'à 1000-2000 DAU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029471" y="2194560"/>
            <a:ext cx="252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Vidéo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29471" y="269748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R2 — pas de frais de bande passante sortante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0 $ d'infrastructure quand personne n'utilise l'app à 4h du matin.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228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Stack &amp; coûts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0" cy="54864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Du noyau MVP à la plateforme complète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1168" cy="201168"/>
          </a:xfrm>
          <a:prstGeom prst="ellipse">
            <a:avLst/>
          </a:prstGeom>
          <a:solidFill>
            <a:srgbClr val="7DD3E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276856"/>
            <a:ext cx="2595296" cy="27432"/>
          </a:xfrm>
          <a:prstGeom prst="rect">
            <a:avLst/>
          </a:prstGeom>
          <a:solidFill>
            <a:srgbClr val="3A3F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14600"/>
            <a:ext cx="252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D3E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Maintenant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Social-Map + Bounties + Auth + RBAC 2 niveaux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36544" y="2194560"/>
            <a:ext cx="201168" cy="20116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7"/>
          <p:cNvSpPr/>
          <p:nvPr/>
        </p:nvSpPr>
        <p:spPr>
          <a:xfrm>
            <a:off x="3637712" y="2276856"/>
            <a:ext cx="2595296" cy="27432"/>
          </a:xfrm>
          <a:prstGeom prst="rect">
            <a:avLst/>
          </a:prstGeom>
          <a:solidFill>
            <a:srgbClr val="3A3F4C"/>
          </a:solidFill>
          <a:ln/>
        </p:spPr>
      </p:sp>
      <p:sp>
        <p:nvSpPr>
          <p:cNvPr id="10" name="Text 8"/>
          <p:cNvSpPr/>
          <p:nvPr/>
        </p:nvSpPr>
        <p:spPr>
          <a:xfrm>
            <a:off x="3436544" y="2514600"/>
            <a:ext cx="252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Ensuite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36544" y="292608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Ghost Mode, Reality-Vlogs, modération anti-brigading complète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3008" y="2194560"/>
            <a:ext cx="201168" cy="201168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34176" y="2276856"/>
            <a:ext cx="2595296" cy="27432"/>
          </a:xfrm>
          <a:prstGeom prst="rect">
            <a:avLst/>
          </a:prstGeom>
          <a:solidFill>
            <a:srgbClr val="3A3F4C"/>
          </a:solidFill>
          <a:ln/>
        </p:spPr>
      </p:sp>
      <p:sp>
        <p:nvSpPr>
          <p:cNvPr id="14" name="Text 12"/>
          <p:cNvSpPr/>
          <p:nvPr/>
        </p:nvSpPr>
        <p:spPr>
          <a:xfrm>
            <a:off x="6233008" y="2514600"/>
            <a:ext cx="252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Puis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3008" y="292608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Sponsoring, pont WhatsApp de viralité, RBAC 9 rôles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29471" y="2194560"/>
            <a:ext cx="201168" cy="20116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7" name="Text 15"/>
          <p:cNvSpPr/>
          <p:nvPr/>
        </p:nvSpPr>
        <p:spPr>
          <a:xfrm>
            <a:off x="9029471" y="2514600"/>
            <a:ext cx="252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29471" y="292608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Pivot B2B SaaS multi-diaspora (marque blanche)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228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94015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Roadmap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1E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MINDCLASH </a:t>
            </a:r>
            <a:pPr algn="ctr" indent="0" marL="0">
              <a:buNone/>
            </a:pPr>
            <a:r>
              <a:rPr lang="en-US" sz="4400" b="1" dirty="0">
                <a:solidFill>
                  <a:srgbClr val="F2C1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228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981048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À compléter avec le porteur de projet : ce qui est demandé au jury / à CréaAfrica 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Wilfried TSETSE · CESTOM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tsetsewilfried@gmail.com</a:t>
            </a:r>
            <a:endParaRPr lang="en-US" sz="1200" dirty="0"/>
          </a:p>
        </p:txBody>
      </p:sp>
      <p:pic>
        <p:nvPicPr>
          <p:cNvPr id="6" name="Image 0" descr="C:\Users\Wilfried\OneDrive\Bureau\Wilfried\professionnel\CreaAfrica\assets\brand\CES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52120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MindClash 228</dc:title>
  <dc:subject>PptxGenJS Presentation</dc:subject>
  <dc:creator>CESTOM</dc:creator>
  <cp:lastModifiedBy>CESTOM</cp:lastModifiedBy>
  <cp:revision>1</cp:revision>
  <dcterms:created xsi:type="dcterms:W3CDTF">2026-08-22T10:41:09Z</dcterms:created>
  <dcterms:modified xsi:type="dcterms:W3CDTF">2026-08-22T10:41:09Z</dcterms:modified>
</cp:coreProperties>
</file>