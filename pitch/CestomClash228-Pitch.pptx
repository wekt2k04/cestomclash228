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760720"/>
            <a:ext cx="12191695" cy="73152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0" y="210312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spc="100" kern="0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</a:t>
            </a:r>
            <a:pPr algn="ctr" indent="0" marL="0">
              <a:buNone/>
            </a:pPr>
            <a:r>
              <a:rPr lang="en-US" sz="5200" b="1" spc="100" kern="0" dirty="0">
                <a:solidFill>
                  <a:srgbClr val="F2C14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228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D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Explore. Partage. Level-up.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981048" y="3794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plateforme qui transforme l'entraide entre étudiants togolais au Maroc en réputation — et en revenu</a:t>
            </a:r>
            <a:endParaRPr lang="en-US" sz="1300" dirty="0"/>
          </a:p>
        </p:txBody>
      </p:sp>
      <p:pic>
        <p:nvPicPr>
          <p:cNvPr id="6" name="Image 0" descr="C:\Users\Wilfried\OneDrive\Bureau\Wilfried\professionnel\CreaAfrica\assets\brand\CEST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484632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0" y="5577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Concours CréaAfrica 2026 · Propulsé par CESTOM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2377440"/>
            <a:ext cx="3291840" cy="3291840"/>
          </a:xfrm>
          <a:prstGeom prst="ellipse">
            <a:avLst/>
          </a:prstGeom>
          <a:solidFill>
            <a:srgbClr val="7DD3E0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 problème, et notre réponse directe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problème identifié a une réponse produit concrète — pas un vœu pieux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10048" y="2093976"/>
            <a:ext cx="292608" cy="29260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9" name="Text 7"/>
          <p:cNvSpPr/>
          <p:nvPr/>
        </p:nvSpPr>
        <p:spPr>
          <a:xfrm>
            <a:off x="5410048" y="20939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!</a:t>
            </a:r>
            <a:endParaRPr lang="en-US" sz="1408" dirty="0"/>
          </a:p>
        </p:txBody>
      </p:sp>
      <p:sp>
        <p:nvSpPr>
          <p:cNvPr id="10" name="Text 8"/>
          <p:cNvSpPr/>
          <p:nvPr/>
        </p:nvSpPr>
        <p:spPr>
          <a:xfrm>
            <a:off x="868680" y="20756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Information fragmentée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24414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WhatsApp non indexable, non consultable après coup, aucune valeur générée pour personne.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24448" y="19659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094415" y="2093976"/>
            <a:ext cx="292608" cy="292608"/>
          </a:xfrm>
          <a:prstGeom prst="ellipse">
            <a:avLst/>
          </a:prstGeom>
          <a:solidFill>
            <a:srgbClr val="4CAF7D"/>
          </a:solidFill>
          <a:ln/>
        </p:spPr>
      </p:sp>
      <p:sp>
        <p:nvSpPr>
          <p:cNvPr id="14" name="Text 12"/>
          <p:cNvSpPr/>
          <p:nvPr/>
        </p:nvSpPr>
        <p:spPr>
          <a:xfrm>
            <a:off x="11094415" y="20939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</a:t>
            </a:r>
            <a:endParaRPr lang="en-US" sz="1408" dirty="0"/>
          </a:p>
        </p:txBody>
      </p:sp>
      <p:sp>
        <p:nvSpPr>
          <p:cNvPr id="15" name="Text 13"/>
          <p:cNvSpPr/>
          <p:nvPr/>
        </p:nvSpPr>
        <p:spPr>
          <a:xfrm>
            <a:off x="6553048" y="20756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7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Carte par ville + Pins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53048" y="24414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Informations pratiques persistantes, consultables par tous, ancrées à un lieu précis.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10048" y="3694176"/>
            <a:ext cx="292608" cy="29260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9" name="Text 17"/>
          <p:cNvSpPr/>
          <p:nvPr/>
        </p:nvSpPr>
        <p:spPr>
          <a:xfrm>
            <a:off x="5410048" y="3694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!</a:t>
            </a:r>
            <a:endParaRPr lang="en-US" sz="1408" dirty="0"/>
          </a:p>
        </p:txBody>
      </p:sp>
      <p:sp>
        <p:nvSpPr>
          <p:cNvPr id="20" name="Text 18"/>
          <p:cNvSpPr/>
          <p:nvPr/>
        </p:nvSpPr>
        <p:spPr>
          <a:xfrm>
            <a:off x="868680" y="36758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Aide rendue non valorisée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" y="40416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Celui qui aide un pair n'obtient aujourd'hui aucune reconnaissance durable, aucune trace.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24448" y="35661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94415" y="3694176"/>
            <a:ext cx="292608" cy="292608"/>
          </a:xfrm>
          <a:prstGeom prst="ellipse">
            <a:avLst/>
          </a:prstGeom>
          <a:solidFill>
            <a:srgbClr val="4CAF7D"/>
          </a:solidFill>
          <a:ln/>
        </p:spPr>
      </p:sp>
      <p:sp>
        <p:nvSpPr>
          <p:cNvPr id="24" name="Text 22"/>
          <p:cNvSpPr/>
          <p:nvPr/>
        </p:nvSpPr>
        <p:spPr>
          <a:xfrm>
            <a:off x="11094415" y="3694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</a:t>
            </a:r>
            <a:endParaRPr lang="en-US" sz="1408" dirty="0"/>
          </a:p>
        </p:txBody>
      </p:sp>
      <p:sp>
        <p:nvSpPr>
          <p:cNvPr id="25" name="Text 23"/>
          <p:cNvSpPr/>
          <p:nvPr/>
        </p:nvSpPr>
        <p:spPr>
          <a:xfrm>
            <a:off x="6553048" y="36758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7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Bounties + Notation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53048" y="40416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Demande d'aide résolue → note publique (1-5) → réputation qui se construit dans la durée.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1663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10048" y="5294376"/>
            <a:ext cx="292608" cy="29260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9" name="Text 27"/>
          <p:cNvSpPr/>
          <p:nvPr/>
        </p:nvSpPr>
        <p:spPr>
          <a:xfrm>
            <a:off x="5410048" y="52943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!</a:t>
            </a:r>
            <a:endParaRPr lang="en-US" sz="1408" dirty="0"/>
          </a:p>
        </p:txBody>
      </p:sp>
      <p:sp>
        <p:nvSpPr>
          <p:cNvPr id="30" name="Text 28"/>
          <p:cNvSpPr/>
          <p:nvPr/>
        </p:nvSpPr>
        <p:spPr>
          <a:xfrm>
            <a:off x="868680" y="52760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Isolement à l'arrivée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68680" y="56418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nouvel arrivant manque des codes locaux essentiels au moment où il en a le plus besoin.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324448" y="51663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094415" y="5294376"/>
            <a:ext cx="292608" cy="292608"/>
          </a:xfrm>
          <a:prstGeom prst="ellipse">
            <a:avLst/>
          </a:prstGeom>
          <a:solidFill>
            <a:srgbClr val="4CAF7D"/>
          </a:solidFill>
          <a:ln/>
        </p:spPr>
      </p:sp>
      <p:sp>
        <p:nvSpPr>
          <p:cNvPr id="34" name="Text 32"/>
          <p:cNvSpPr/>
          <p:nvPr/>
        </p:nvSpPr>
        <p:spPr>
          <a:xfrm>
            <a:off x="11094415" y="52943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</a:t>
            </a:r>
            <a:endParaRPr lang="en-US" sz="1408" dirty="0"/>
          </a:p>
        </p:txBody>
      </p:sp>
      <p:sp>
        <p:nvSpPr>
          <p:cNvPr id="35" name="Text 33"/>
          <p:cNvSpPr/>
          <p:nvPr/>
        </p:nvSpPr>
        <p:spPr>
          <a:xfrm>
            <a:off x="6553048" y="52760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7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Ancrage CESTOM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553048" y="56418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Porté par une communauté déjà organisée sur le terrain — pas une app anonyme de plus.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Problème → Solution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Modèle économique : l'impact d'abord, prouvé dès le jour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de bénévolat — un flux monétaire construit dès la version présentée au concours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54298" cy="54864"/>
          </a:xfrm>
          <a:prstGeom prst="rect">
            <a:avLst/>
          </a:prstGeom>
          <a:solidFill>
            <a:srgbClr val="F2C14E"/>
          </a:solidFill>
          <a:ln/>
        </p:spPr>
      </p:sp>
      <p:sp>
        <p:nvSpPr>
          <p:cNvPr id="7" name="Shape 5"/>
          <p:cNvSpPr/>
          <p:nvPr/>
        </p:nvSpPr>
        <p:spPr>
          <a:xfrm>
            <a:off x="3765194" y="2084832"/>
            <a:ext cx="274320" cy="274320"/>
          </a:xfrm>
          <a:prstGeom prst="ellipse">
            <a:avLst/>
          </a:prstGeom>
          <a:solidFill>
            <a:srgbClr val="F2C14E"/>
          </a:solidFill>
          <a:ln/>
        </p:spPr>
      </p:sp>
      <p:sp>
        <p:nvSpPr>
          <p:cNvPr id="8" name="Text 6"/>
          <p:cNvSpPr/>
          <p:nvPr/>
        </p:nvSpPr>
        <p:spPr>
          <a:xfrm>
            <a:off x="3765194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30885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C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Maintenant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345429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Sponsoring vérifié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017520"/>
            <a:ext cx="345429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acteur qui veut un privilège (Pin mis en avant) fait un virement réel vers un compte CESTOM dédié, soumet une preuve dans l'app, un vérificateur valide. 0 % prélevé par une passerelle de paiement tierce — tout reste dans le circuit CESTOM.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68698" y="1965960"/>
            <a:ext cx="3454298" cy="54864"/>
          </a:xfrm>
          <a:prstGeom prst="rect">
            <a:avLst/>
          </a:prstGeom>
          <a:solidFill>
            <a:srgbClr val="7DD3E0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3813" y="2084832"/>
            <a:ext cx="274320" cy="274320"/>
          </a:xfrm>
          <a:prstGeom prst="ellipse">
            <a:avLst/>
          </a:prstGeom>
          <a:solidFill>
            <a:srgbClr val="7DD3E0"/>
          </a:solidFill>
          <a:ln/>
        </p:spPr>
      </p:sp>
      <p:sp>
        <p:nvSpPr>
          <p:cNvPr id="14" name="Text 12"/>
          <p:cNvSpPr/>
          <p:nvPr/>
        </p:nvSpPr>
        <p:spPr>
          <a:xfrm>
            <a:off x="7493813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4368698" y="2103120"/>
            <a:ext cx="30885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Après traction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68698" y="2377440"/>
            <a:ext cx="345429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Commission sur services rendus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68698" y="3017520"/>
            <a:ext cx="345429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fois la confiance et l'usage établis via la Phase 1, commission sur les mises en relation payantes entre étudiants.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97317" y="1965960"/>
            <a:ext cx="3454298" cy="54864"/>
          </a:xfrm>
          <a:prstGeom prst="rect">
            <a:avLst/>
          </a:prstGeom>
          <a:solidFill>
            <a:srgbClr val="4CAF7D"/>
          </a:solidFill>
          <a:ln/>
        </p:spPr>
      </p:sp>
      <p:sp>
        <p:nvSpPr>
          <p:cNvPr id="19" name="Shape 17"/>
          <p:cNvSpPr/>
          <p:nvPr/>
        </p:nvSpPr>
        <p:spPr>
          <a:xfrm>
            <a:off x="11222431" y="2084832"/>
            <a:ext cx="274320" cy="274320"/>
          </a:xfrm>
          <a:prstGeom prst="ellipse">
            <a:avLst/>
          </a:prstGeom>
          <a:solidFill>
            <a:srgbClr val="4CAF7D"/>
          </a:solidFill>
          <a:ln/>
        </p:spPr>
      </p:sp>
      <p:sp>
        <p:nvSpPr>
          <p:cNvPr id="20" name="Text 18"/>
          <p:cNvSpPr/>
          <p:nvPr/>
        </p:nvSpPr>
        <p:spPr>
          <a:xfrm>
            <a:off x="11222431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A1D2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8097317" y="2103120"/>
            <a:ext cx="30885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CAF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 — Vision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97317" y="2377440"/>
            <a:ext cx="345429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Licence à d'autres diasporas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97317" y="3017520"/>
            <a:ext cx="345429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(carte, réputation, sponsoring vérifié, modération spatiale) transposable à toute communauté étudiante structurée autour d'une association reconnue.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8920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2A2F3B"/>
          </a:solidFill>
          <a:ln w="12700">
            <a:solidFill>
              <a:srgbClr val="3A3F4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44715" y="5416067"/>
            <a:ext cx="237744" cy="237744"/>
          </a:xfrm>
          <a:prstGeom prst="ellipse">
            <a:avLst/>
          </a:prstGeom>
          <a:solidFill>
            <a:srgbClr val="F2C14E"/>
          </a:solidFill>
          <a:ln w="9525">
            <a:solidFill>
              <a:srgbClr val="1A1D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667" y="5672099"/>
            <a:ext cx="10058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Rabat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178863" y="5516679"/>
            <a:ext cx="216984" cy="216984"/>
          </a:xfrm>
          <a:prstGeom prst="ellipse">
            <a:avLst/>
          </a:prstGeom>
          <a:solidFill>
            <a:srgbClr val="F2C14E"/>
          </a:solidFill>
          <a:ln w="9525">
            <a:solidFill>
              <a:srgbClr val="1A1D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4435" y="5751951"/>
            <a:ext cx="10058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Casablanca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1061409" y="5935161"/>
            <a:ext cx="163182" cy="163182"/>
          </a:xfrm>
          <a:prstGeom prst="ellipse">
            <a:avLst/>
          </a:prstGeom>
          <a:solidFill>
            <a:srgbClr val="F2C14E"/>
          </a:solidFill>
          <a:ln w="9525">
            <a:solidFill>
              <a:srgbClr val="1A1D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116631"/>
            <a:ext cx="10058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Marrakech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2165425" y="5454774"/>
            <a:ext cx="155452" cy="155452"/>
          </a:xfrm>
          <a:prstGeom prst="ellipse">
            <a:avLst/>
          </a:prstGeom>
          <a:solidFill>
            <a:srgbClr val="F2C14E"/>
          </a:solidFill>
          <a:ln w="9525">
            <a:solidFill>
              <a:srgbClr val="1A1D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740231" y="5628514"/>
            <a:ext cx="10058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Fès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1878987" y="5128144"/>
            <a:ext cx="113007" cy="113007"/>
          </a:xfrm>
          <a:prstGeom prst="ellipse">
            <a:avLst/>
          </a:prstGeom>
          <a:solidFill>
            <a:srgbClr val="F2C14E"/>
          </a:solidFill>
          <a:ln w="9525">
            <a:solidFill>
              <a:srgbClr val="1A1D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432570" y="5259440"/>
            <a:ext cx="10058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Tanger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3332988" y="5350518"/>
            <a:ext cx="100584" cy="100584"/>
          </a:xfrm>
          <a:prstGeom prst="ellipse">
            <a:avLst/>
          </a:prstGeom>
          <a:solidFill>
            <a:srgbClr val="F2C14E"/>
          </a:solidFill>
          <a:ln w="9525">
            <a:solidFill>
              <a:srgbClr val="1A1D2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80360" y="5469390"/>
            <a:ext cx="10058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Oujda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4480560" y="4892040"/>
            <a:ext cx="7071055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2C14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650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membres CESTOM, 6 villes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Source : cestom.org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Business model &amp; marché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2377440"/>
            <a:ext cx="3291840" cy="3291840"/>
          </a:xfrm>
          <a:prstGeom prst="ellipse">
            <a:avLst/>
          </a:prstGeom>
          <a:solidFill>
            <a:srgbClr val="F2C14E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 qui est réel aujourd'hui, et ce qu'on demande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10911535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▸"/>
            </a:pPr>
            <a:r>
              <a:rPr lang="en-US" sz="1400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Carte, demandes d'aide, authentification, gouvernance à 2 niveaux — code fonctionnel, testé (32/32 tests automatisés)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▸"/>
            </a:pPr>
            <a:r>
              <a:rPr lang="en-US" sz="1400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directions visuelles explorées et maquettées — direction retenue le 2026-08-31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▸"/>
            </a:pPr>
            <a:r>
              <a:rPr lang="en-US" sz="1400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Sponsoring vérifié + notation en cours de développement, ciblés pour ce concours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▸"/>
            </a:pPr>
            <a:r>
              <a:rPr lang="en-US" sz="1400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Hébergement 100 % gratuit (aucune carte bancaire engagée) — marge protégée dès le 1er sponsor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10911535" cy="1371600"/>
          </a:xfrm>
          <a:prstGeom prst="roundRect">
            <a:avLst>
              <a:gd name="adj" fmla="val 6667"/>
            </a:avLst>
          </a:prstGeom>
          <a:solidFill>
            <a:srgbClr val="242832"/>
          </a:solidFill>
          <a:ln w="19050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4297680"/>
            <a:ext cx="102714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C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qu'on demande : </a:t>
            </a:r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[À compléter avec le porteur de projet — modalités exactes du concours CréaAfrica non connues : financement, mentorat, mise en réseau]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58978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Wilfried TSETSE · CESTOM · tsetsewilfried@gmail.com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Traction &amp; demande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CestomClash228</dc:title>
  <dc:subject>PptxGenJS Presentation</dc:subject>
  <dc:creator>CESTOM</dc:creator>
  <cp:lastModifiedBy>CESTOM</cp:lastModifiedBy>
  <cp:revision>1</cp:revision>
  <dcterms:created xsi:type="dcterms:W3CDTF">2026-08-31T11:14:15Z</dcterms:created>
  <dcterms:modified xsi:type="dcterms:W3CDTF">2026-08-31T11:14:15Z</dcterms:modified>
</cp:coreProperties>
</file>