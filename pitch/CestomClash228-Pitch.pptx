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91695" cy="73152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10561320" y="365760"/>
            <a:ext cx="749808" cy="374904"/>
          </a:xfrm>
          <a:prstGeom prst="diamond">
            <a:avLst/>
          </a:prstGeom>
          <a:solidFill>
            <a:srgbClr val="3FE0FF">
              <a:alpha val="85000"/>
            </a:srgbClr>
          </a:solidFill>
        </p:spPr>
      </p:sp>
      <p:sp>
        <p:nvSpPr>
          <p:cNvPr id="4" name="Shape 2"/>
          <p:cNvSpPr/>
          <p:nvPr/>
        </p:nvSpPr>
        <p:spPr>
          <a:xfrm flipH="1">
            <a:off x="10561320" y="560710"/>
            <a:ext cx="389900" cy="464881"/>
          </a:xfrm>
          <a:prstGeom prst="parallelogram">
            <a:avLst/>
          </a:prstGeom>
          <a:solidFill>
            <a:srgbClr val="3FE0FF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921228" y="560710"/>
            <a:ext cx="389900" cy="464881"/>
          </a:xfrm>
          <a:prstGeom prst="parallelogram">
            <a:avLst/>
          </a:prstGeom>
          <a:solidFill>
            <a:srgbClr val="3FE0FF">
              <a:alpha val="6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9646920" y="713232"/>
            <a:ext cx="530352" cy="265176"/>
          </a:xfrm>
          <a:prstGeom prst="diamond">
            <a:avLst/>
          </a:prstGeom>
          <a:solidFill>
            <a:srgbClr val="FFC94D">
              <a:alpha val="85000"/>
            </a:srgbClr>
          </a:solidFill>
        </p:spPr>
      </p:sp>
      <p:sp>
        <p:nvSpPr>
          <p:cNvPr id="7" name="Shape 5"/>
          <p:cNvSpPr/>
          <p:nvPr/>
        </p:nvSpPr>
        <p:spPr>
          <a:xfrm flipH="1">
            <a:off x="9646920" y="851124"/>
            <a:ext cx="275783" cy="328818"/>
          </a:xfrm>
          <a:prstGeom prst="parallelogram">
            <a:avLst/>
          </a:prstGeom>
          <a:solidFill>
            <a:srgbClr val="FFC94D">
              <a:alpha val="4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9901489" y="851124"/>
            <a:ext cx="275783" cy="328818"/>
          </a:xfrm>
          <a:prstGeom prst="parallelogram">
            <a:avLst/>
          </a:prstGeom>
          <a:solidFill>
            <a:srgbClr val="FFC94D">
              <a:alpha val="6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0835640" y="1024128"/>
            <a:ext cx="420624" cy="210312"/>
          </a:xfrm>
          <a:prstGeom prst="diamond">
            <a:avLst/>
          </a:prstGeom>
          <a:solidFill>
            <a:srgbClr val="2FE894">
              <a:alpha val="85000"/>
            </a:srgbClr>
          </a:solidFill>
        </p:spPr>
      </p:sp>
      <p:sp>
        <p:nvSpPr>
          <p:cNvPr id="10" name="Shape 8"/>
          <p:cNvSpPr/>
          <p:nvPr/>
        </p:nvSpPr>
        <p:spPr>
          <a:xfrm flipH="1">
            <a:off x="10835640" y="1133490"/>
            <a:ext cx="218724" cy="260787"/>
          </a:xfrm>
          <a:prstGeom prst="parallelogram">
            <a:avLst/>
          </a:prstGeom>
          <a:solidFill>
            <a:srgbClr val="2FE894">
              <a:alpha val="4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1037540" y="1133490"/>
            <a:ext cx="218724" cy="260787"/>
          </a:xfrm>
          <a:prstGeom prst="parallelogram">
            <a:avLst/>
          </a:prstGeom>
          <a:solidFill>
            <a:srgbClr val="2FE894">
              <a:alpha val="6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</a:t>
            </a:r>
            <a:r>
              <a:rPr lang="en-US" sz="5200" b="1" kern="0" spc="100" dirty="0">
                <a:solidFill>
                  <a:srgbClr val="FFC94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228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FE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Explore. Partage. Level-up.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La plateforme qui transforme l'entraide entre étudiants togolais au Maroc en réputation — et en revenu</a:t>
            </a:r>
            <a:endParaRPr lang="en-US" sz="1300" dirty="0"/>
          </a:p>
        </p:txBody>
      </p:sp>
      <p:pic>
        <p:nvPicPr>
          <p:cNvPr id="15" name="Image 0" descr="C:\Users\Wilfried\OneDrive\Bureau\Wilfried\professionnel\CreaAfrica\pitch\creaafrica-logo-cropp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737360" cy="534307"/>
          </a:xfrm>
          <a:prstGeom prst="rect">
            <a:avLst/>
          </a:prstGeom>
        </p:spPr>
      </p:pic>
      <p:pic>
        <p:nvPicPr>
          <p:cNvPr id="16" name="Image 1" descr="C:\Users\Wilfried\OneDrive\Bureau\Wilfried\professionnel\CreaAfrica\apps\web\src\app\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484632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Concours CréaAfrica 2026 · Propulsé par CESTOM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2377440"/>
            <a:ext cx="3291840" cy="3291840"/>
          </a:xfrm>
          <a:prstGeom prst="ellipse">
            <a:avLst/>
          </a:prstGeom>
          <a:solidFill>
            <a:srgbClr val="FF4D5E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54864"/>
          </a:xfrm>
          <a:prstGeom prst="rect">
            <a:avLst/>
          </a:prstGeom>
        </p:spPr>
      </p:sp>
      <p:sp>
        <p:nvSpPr>
          <p:cNvPr id="4" name="Text 2"/>
          <p:cNvSpPr/>
          <p:nvPr/>
        </p:nvSpPr>
        <p:spPr>
          <a:xfrm>
            <a:off x="640080" y="621792"/>
            <a:ext cx="853409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Le problème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Trois réalités récurrentes, avérées après analyse de la vie estudiantine togolaise au Maroc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74175" y="6400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54298" cy="3063240"/>
          </a:xfrm>
          <a:prstGeom prst="roundRect">
            <a:avLst>
              <a:gd name="adj" fmla="val 2090"/>
            </a:avLst>
          </a:prstGeom>
          <a:ln w="12700">
            <a:solidFill>
              <a:srgbClr val="FF4D5E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FF4D5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0278" y="2203704"/>
            <a:ext cx="2853903" cy="18288"/>
          </a:xfrm>
          <a:prstGeom prst="rect">
            <a:avLst/>
          </a:prstGeom>
          <a:solidFill>
            <a:srgbClr val="FF4D5E">
              <a:alpha val="6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3692042" y="2340864"/>
            <a:ext cx="292608" cy="292608"/>
          </a:xfrm>
          <a:prstGeom prst="ellipse">
            <a:avLst/>
          </a:prstGeom>
          <a:solidFill>
            <a:srgbClr val="FF4D5E"/>
          </a:solidFill>
          <a:effectLst>
            <a:outerShdw blurRad="76200" dist="50800" dir="16200000" algn="bl" rotWithShape="0">
              <a:srgbClr val="FF4D5E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92042" y="234086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!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868680" y="234086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4D5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Information dispersée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816352"/>
            <a:ext cx="2997098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Parfois contradictoire d'une source à l'autre, non indexée, non retrouvable après coup.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8698" y="2194560"/>
            <a:ext cx="3454298" cy="3063240"/>
          </a:xfrm>
          <a:prstGeom prst="roundRect">
            <a:avLst>
              <a:gd name="adj" fmla="val 2090"/>
            </a:avLst>
          </a:prstGeom>
          <a:ln w="12700">
            <a:solidFill>
              <a:srgbClr val="FF4D5E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FF4D5E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8896" y="2203704"/>
            <a:ext cx="2853903" cy="18288"/>
          </a:xfrm>
          <a:prstGeom prst="rect">
            <a:avLst/>
          </a:prstGeom>
          <a:solidFill>
            <a:srgbClr val="FF4D5E">
              <a:alpha val="6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420661" y="2340864"/>
            <a:ext cx="292608" cy="292608"/>
          </a:xfrm>
          <a:prstGeom prst="ellipse">
            <a:avLst/>
          </a:prstGeom>
          <a:solidFill>
            <a:srgbClr val="FF4D5E"/>
          </a:solidFill>
          <a:effectLst>
            <a:outerShdw blurRad="76200" dist="50800" dir="16200000" algn="bl" rotWithShape="0">
              <a:srgbClr val="FF4D5E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20661" y="234086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!</a:t>
            </a:r>
            <a:endParaRPr lang="en-US" sz="1410" dirty="0"/>
          </a:p>
        </p:txBody>
      </p:sp>
      <p:sp>
        <p:nvSpPr>
          <p:cNvPr id="17" name="Text 15"/>
          <p:cNvSpPr/>
          <p:nvPr/>
        </p:nvSpPr>
        <p:spPr>
          <a:xfrm>
            <a:off x="4597298" y="234086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4D5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L'offre ne trouve pas la demande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7298" y="2816352"/>
            <a:ext cx="2997098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Ressource humaine, compétence disponibles, mais aucun moyen de localiser qui en a besoin — même payant.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7317" y="2194560"/>
            <a:ext cx="3454298" cy="3063240"/>
          </a:xfrm>
          <a:prstGeom prst="roundRect">
            <a:avLst>
              <a:gd name="adj" fmla="val 2090"/>
            </a:avLst>
          </a:prstGeom>
          <a:ln w="12700">
            <a:solidFill>
              <a:srgbClr val="FF4D5E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FF4D5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97514" y="2203704"/>
            <a:ext cx="2853903" cy="18288"/>
          </a:xfrm>
          <a:prstGeom prst="rect">
            <a:avLst/>
          </a:prstGeom>
          <a:solidFill>
            <a:srgbClr val="FF4D5E">
              <a:alpha val="65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11149279" y="2340864"/>
            <a:ext cx="292608" cy="292608"/>
          </a:xfrm>
          <a:prstGeom prst="ellipse">
            <a:avLst/>
          </a:prstGeom>
          <a:solidFill>
            <a:srgbClr val="FF4D5E"/>
          </a:solidFill>
          <a:effectLst>
            <a:outerShdw blurRad="76200" dist="50800" dir="16200000" algn="bl" rotWithShape="0">
              <a:srgbClr val="FF4D5E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149279" y="234086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!</a:t>
            </a:r>
            <a:endParaRPr lang="en-US" sz="1410" dirty="0"/>
          </a:p>
        </p:txBody>
      </p:sp>
      <p:sp>
        <p:nvSpPr>
          <p:cNvPr id="23" name="Text 21"/>
          <p:cNvSpPr/>
          <p:nvPr/>
        </p:nvSpPr>
        <p:spPr>
          <a:xfrm>
            <a:off x="8325917" y="234086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4D5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Isolement à l'arrivée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5917" y="2816352"/>
            <a:ext cx="2997098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 nouvel arrivant manque des codes locaux essentiels au moment où il en a le plus besoin.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  </a:t>
            </a:r>
            <a:r>
              <a:rPr lang="en-US" sz="1000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· Explore. Partage. Level-up.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 · Problème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2377440"/>
            <a:ext cx="3291840" cy="3291840"/>
          </a:xfrm>
          <a:prstGeom prst="ellipse">
            <a:avLst/>
          </a:prstGeom>
          <a:solidFill>
            <a:srgbClr val="2FE894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54864"/>
          </a:xfrm>
          <a:prstGeom prst="rect">
            <a:avLst/>
          </a:prstGeom>
        </p:spPr>
      </p:sp>
      <p:sp>
        <p:nvSpPr>
          <p:cNvPr id="4" name="Text 2"/>
          <p:cNvSpPr/>
          <p:nvPr/>
        </p:nvSpPr>
        <p:spPr>
          <a:xfrm>
            <a:off x="640080" y="621792"/>
            <a:ext cx="853409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Notre réponse directe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Chaque problème identifié a une réponse produit concrète, déjà en code — pas un vœu pieux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74175" y="6400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454298" cy="1965960"/>
          </a:xfrm>
          <a:prstGeom prst="roundRect">
            <a:avLst>
              <a:gd name="adj" fmla="val 3256"/>
            </a:avLst>
          </a:prstGeom>
          <a:ln w="12700">
            <a:solidFill>
              <a:srgbClr val="2FE894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2FE894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744" y="2066544"/>
            <a:ext cx="3068970" cy="18288"/>
          </a:xfrm>
          <a:prstGeom prst="rect">
            <a:avLst/>
          </a:prstGeom>
          <a:solidFill>
            <a:srgbClr val="2FE894">
              <a:alpha val="6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3692042" y="2203704"/>
            <a:ext cx="292608" cy="292608"/>
          </a:xfrm>
          <a:prstGeom prst="ellipse">
            <a:avLst/>
          </a:prstGeom>
          <a:solidFill>
            <a:srgbClr val="2FE894"/>
          </a:solidFill>
          <a:effectLst>
            <a:outerShdw blurRad="76200" dist="50800" dir="16200000" algn="bl" rotWithShape="0">
              <a:srgbClr val="2FE89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92042" y="220370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+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868680" y="220370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E894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Carte par ville + Pins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679192"/>
            <a:ext cx="299709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Informations pratiques persistantes, consultables par tous, ancrées à un lieu précis.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8698" y="2057400"/>
            <a:ext cx="3454298" cy="1965960"/>
          </a:xfrm>
          <a:prstGeom prst="roundRect">
            <a:avLst>
              <a:gd name="adj" fmla="val 3256"/>
            </a:avLst>
          </a:prstGeom>
          <a:ln w="12700">
            <a:solidFill>
              <a:srgbClr val="2FE894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2FE89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61362" y="2066544"/>
            <a:ext cx="3068970" cy="18288"/>
          </a:xfrm>
          <a:prstGeom prst="rect">
            <a:avLst/>
          </a:prstGeom>
          <a:solidFill>
            <a:srgbClr val="2FE894">
              <a:alpha val="6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420661" y="2203704"/>
            <a:ext cx="292608" cy="292608"/>
          </a:xfrm>
          <a:prstGeom prst="ellipse">
            <a:avLst/>
          </a:prstGeom>
          <a:solidFill>
            <a:srgbClr val="2FE894"/>
          </a:solidFill>
          <a:effectLst>
            <a:outerShdw blurRad="76200" dist="50800" dir="16200000" algn="bl" rotWithShape="0">
              <a:srgbClr val="2FE89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20661" y="220370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+</a:t>
            </a:r>
            <a:endParaRPr lang="en-US" sz="1410" dirty="0"/>
          </a:p>
        </p:txBody>
      </p:sp>
      <p:sp>
        <p:nvSpPr>
          <p:cNvPr id="17" name="Text 15"/>
          <p:cNvSpPr/>
          <p:nvPr/>
        </p:nvSpPr>
        <p:spPr>
          <a:xfrm>
            <a:off x="4597298" y="220370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E894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Bounties + Notation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7298" y="2679192"/>
            <a:ext cx="299709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Une demande récurrente devient un service proposé → réputation qui se construit dans la durée.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7317" y="2057400"/>
            <a:ext cx="3454298" cy="1965960"/>
          </a:xfrm>
          <a:prstGeom prst="roundRect">
            <a:avLst>
              <a:gd name="adj" fmla="val 3256"/>
            </a:avLst>
          </a:prstGeom>
          <a:ln w="12700">
            <a:solidFill>
              <a:srgbClr val="2FE894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2FE89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89981" y="2066544"/>
            <a:ext cx="3068970" cy="18288"/>
          </a:xfrm>
          <a:prstGeom prst="rect">
            <a:avLst/>
          </a:prstGeom>
          <a:solidFill>
            <a:srgbClr val="2FE894">
              <a:alpha val="65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11149279" y="2203704"/>
            <a:ext cx="292608" cy="292608"/>
          </a:xfrm>
          <a:prstGeom prst="ellipse">
            <a:avLst/>
          </a:prstGeom>
          <a:solidFill>
            <a:srgbClr val="2FE894"/>
          </a:solidFill>
          <a:effectLst>
            <a:outerShdw blurRad="76200" dist="50800" dir="16200000" algn="bl" rotWithShape="0">
              <a:srgbClr val="2FE894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149279" y="220370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+</a:t>
            </a:r>
            <a:endParaRPr lang="en-US" sz="1410" dirty="0"/>
          </a:p>
        </p:txBody>
      </p:sp>
      <p:sp>
        <p:nvSpPr>
          <p:cNvPr id="23" name="Text 21"/>
          <p:cNvSpPr/>
          <p:nvPr/>
        </p:nvSpPr>
        <p:spPr>
          <a:xfrm>
            <a:off x="8325917" y="2203704"/>
            <a:ext cx="290565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FE894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Communauté, pas une app de plus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5917" y="2679192"/>
            <a:ext cx="299709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Pensé pour une communauté précise — discussion en langues locales, notion d'appartenance.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86888" y="4526280"/>
            <a:ext cx="512064" cy="512064"/>
          </a:xfrm>
          <a:prstGeom prst="ellipse">
            <a:avLst/>
          </a:prstGeom>
          <a:solidFill>
            <a:srgbClr val="3FE0FF"/>
          </a:solidFill>
          <a:effectLst>
            <a:outerShdw blurRad="76200" dist="50800" dir="16200000" algn="bl" rotWithShape="0">
              <a:srgbClr val="3FE0FF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86888" y="452628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65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1</a:t>
            </a:r>
            <a:endParaRPr lang="en-US" sz="2465" dirty="0"/>
          </a:p>
        </p:txBody>
      </p:sp>
      <p:sp>
        <p:nvSpPr>
          <p:cNvPr id="27" name="Text 25"/>
          <p:cNvSpPr/>
          <p:nvPr/>
        </p:nvSpPr>
        <p:spPr>
          <a:xfrm>
            <a:off x="2255368" y="5111496"/>
            <a:ext cx="19751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Explore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98952" y="4782312"/>
            <a:ext cx="2596896" cy="0"/>
          </a:xfrm>
          <a:prstGeom prst="line">
            <a:avLst/>
          </a:prstGeom>
          <a:noFill/>
          <a:ln w="19050">
            <a:solidFill>
              <a:srgbClr val="363C4C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6095848" y="4526280"/>
            <a:ext cx="512064" cy="512064"/>
          </a:xfrm>
          <a:prstGeom prst="ellipse">
            <a:avLst/>
          </a:prstGeom>
          <a:solidFill>
            <a:srgbClr val="FFC94D"/>
          </a:solidFill>
          <a:effectLst>
            <a:outerShdw blurRad="76200" dist="50800" dir="16200000" algn="bl" rotWithShape="0">
              <a:srgbClr val="FFC94D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95848" y="452628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65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</a:t>
            </a:r>
            <a:endParaRPr lang="en-US" sz="2465" dirty="0"/>
          </a:p>
        </p:txBody>
      </p:sp>
      <p:sp>
        <p:nvSpPr>
          <p:cNvPr id="31" name="Text 29"/>
          <p:cNvSpPr/>
          <p:nvPr/>
        </p:nvSpPr>
        <p:spPr>
          <a:xfrm>
            <a:off x="5364328" y="5111496"/>
            <a:ext cx="19751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Partage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07912" y="4782312"/>
            <a:ext cx="2596896" cy="0"/>
          </a:xfrm>
          <a:prstGeom prst="line">
            <a:avLst/>
          </a:prstGeom>
          <a:noFill/>
          <a:ln w="19050">
            <a:solidFill>
              <a:srgbClr val="363C4C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9204808" y="4526280"/>
            <a:ext cx="512064" cy="512064"/>
          </a:xfrm>
          <a:prstGeom prst="ellipse">
            <a:avLst/>
          </a:prstGeom>
          <a:solidFill>
            <a:srgbClr val="2FE894"/>
          </a:solidFill>
          <a:effectLst>
            <a:outerShdw blurRad="76200" dist="50800" dir="16200000" algn="bl" rotWithShape="0">
              <a:srgbClr val="2FE894">
                <a:alpha val="5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04808" y="452628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65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3</a:t>
            </a:r>
            <a:endParaRPr lang="en-US" sz="2465" dirty="0"/>
          </a:p>
        </p:txBody>
      </p:sp>
      <p:sp>
        <p:nvSpPr>
          <p:cNvPr id="35" name="Text 33"/>
          <p:cNvSpPr/>
          <p:nvPr/>
        </p:nvSpPr>
        <p:spPr>
          <a:xfrm>
            <a:off x="8473288" y="5111496"/>
            <a:ext cx="19751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Level-up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5257800"/>
            <a:ext cx="121916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 la première visite à la réputation construite — zéro friction.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  </a:t>
            </a:r>
            <a:r>
              <a:rPr lang="en-US" sz="1000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· Explore. Partage. Level-up.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 · 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2377440"/>
            <a:ext cx="3291840" cy="3291840"/>
          </a:xfrm>
          <a:prstGeom prst="ellipse">
            <a:avLst/>
          </a:prstGeom>
          <a:solidFill>
            <a:srgbClr val="3FE0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54864"/>
          </a:xfrm>
          <a:prstGeom prst="rect">
            <a:avLst/>
          </a:prstGeom>
        </p:spPr>
      </p:sp>
      <p:sp>
        <p:nvSpPr>
          <p:cNvPr id="4" name="Text 2"/>
          <p:cNvSpPr/>
          <p:nvPr/>
        </p:nvSpPr>
        <p:spPr>
          <a:xfrm>
            <a:off x="640080" y="621792"/>
            <a:ext cx="853409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Business case : l'impact d'abord, prouvé dès le jour 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Pas de bénévolat — un flux monétaire construit dès la version présentée au concours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74175" y="6400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54298" cy="1783080"/>
          </a:xfrm>
          <a:prstGeom prst="roundRect">
            <a:avLst>
              <a:gd name="adj" fmla="val 3590"/>
            </a:avLst>
          </a:prstGeom>
          <a:ln w="12700">
            <a:solidFill>
              <a:srgbClr val="FFC94D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FFC94D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4822" y="1975104"/>
            <a:ext cx="3104815" cy="18288"/>
          </a:xfrm>
          <a:prstGeom prst="rect">
            <a:avLst/>
          </a:prstGeom>
          <a:solidFill>
            <a:srgbClr val="FFC94D">
              <a:alpha val="6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3765194" y="2084832"/>
            <a:ext cx="274320" cy="274320"/>
          </a:xfrm>
          <a:prstGeom prst="ellipse">
            <a:avLst/>
          </a:prstGeom>
          <a:solidFill>
            <a:srgbClr val="FFC94D"/>
          </a:solidFill>
          <a:effectLst>
            <a:outerShdw blurRad="76200" dist="50800" dir="16200000" algn="bl" rotWithShape="0">
              <a:srgbClr val="FFC94D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65194" y="208483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1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2103120"/>
            <a:ext cx="290565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94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1 — Maintenant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08853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Sponsoring vérifié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375" y="2710180"/>
            <a:ext cx="3075940" cy="10020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 acteur qui veut un privilège (Pin mis en avant) fait un virement réel vers un compte CESTOM dédié, soumet une preuve dans l'app, un vérificateur valide. 0 % prélevé par une passerelle de paiement tierce — tout reste dans le circuit CESTOM.</a:t>
            </a:r>
            <a:endParaRPr lang="en-US" sz="900" dirty="0">
              <a:solidFill>
                <a:srgbClr val="A3ABB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8698" y="1965960"/>
            <a:ext cx="3454298" cy="1783080"/>
          </a:xfrm>
          <a:prstGeom prst="roundRect">
            <a:avLst>
              <a:gd name="adj" fmla="val 3590"/>
            </a:avLst>
          </a:prstGeom>
          <a:ln w="12700">
            <a:solidFill>
              <a:srgbClr val="3FE0FF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3FE0F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3440" y="1975104"/>
            <a:ext cx="3104815" cy="18288"/>
          </a:xfrm>
          <a:prstGeom prst="rect">
            <a:avLst/>
          </a:prstGeom>
          <a:solidFill>
            <a:srgbClr val="3FE0FF">
              <a:alpha val="6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493813" y="2084832"/>
            <a:ext cx="274320" cy="274320"/>
          </a:xfrm>
          <a:prstGeom prst="ellipse">
            <a:avLst/>
          </a:prstGeom>
          <a:solidFill>
            <a:srgbClr val="3FE0FF"/>
          </a:solidFill>
          <a:effectLst>
            <a:outerShdw blurRad="76200" dist="50800" dir="16200000" algn="bl" rotWithShape="0">
              <a:srgbClr val="3FE0F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3813" y="208483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569866" y="2103120"/>
            <a:ext cx="290565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E0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2 — Après traction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69866" y="2377440"/>
            <a:ext cx="308853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Commission sur services rendus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69866" y="2710180"/>
            <a:ext cx="3051962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Une fois la confiance et l'usage établis via la Phase 1, commission sur les mises en relation payantes entre étudiants.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7317" y="1965960"/>
            <a:ext cx="3454298" cy="1783080"/>
          </a:xfrm>
          <a:prstGeom prst="roundRect">
            <a:avLst>
              <a:gd name="adj" fmla="val 3590"/>
            </a:avLst>
          </a:prstGeom>
          <a:ln w="12700">
            <a:solidFill>
              <a:srgbClr val="2FE894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2FE89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2059" y="1975104"/>
            <a:ext cx="3104815" cy="18288"/>
          </a:xfrm>
          <a:prstGeom prst="rect">
            <a:avLst/>
          </a:prstGeom>
          <a:solidFill>
            <a:srgbClr val="2FE894">
              <a:alpha val="65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1222431" y="2084832"/>
            <a:ext cx="274320" cy="274320"/>
          </a:xfrm>
          <a:prstGeom prst="ellipse">
            <a:avLst/>
          </a:prstGeom>
          <a:solidFill>
            <a:srgbClr val="2FE894"/>
          </a:solidFill>
          <a:effectLst>
            <a:outerShdw blurRad="76200" dist="50800" dir="16200000" algn="bl" rotWithShape="0">
              <a:srgbClr val="2FE894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222431" y="208483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4161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3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298485" y="2103120"/>
            <a:ext cx="290565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89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3 — Vision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98485" y="2377440"/>
            <a:ext cx="308853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Licence à d'autres diasporas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2450" y="2710180"/>
            <a:ext cx="3051962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Architecture (carte, réputation, sponsoring vérifié, modération spatiale) transposable à toute communauté étudiante structurée autour d'une association reconnue.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0690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242836"/>
          </a:solidFill>
          <a:ln w="12700">
            <a:solidFill>
              <a:srgbClr val="363C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46811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Rabat 220  ·  Casablanca 180  ·  Marrakech 95  ·  Fès 85  ·  Tanger 40  ·  Oujda 30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80560" y="4069080"/>
            <a:ext cx="7071055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C94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650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membres CESTOM, 6 villes</a:t>
            </a:r>
            <a:r>
              <a:rPr lang="fr-FR" altLang="en-US" sz="1100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 </a:t>
            </a:r>
            <a:endParaRPr lang="fr-FR" altLang="en-US" sz="1100" dirty="0">
              <a:solidFill>
                <a:srgbClr val="F5F3EE"/>
              </a:solidFill>
              <a:latin typeface="Bahnschrift" panose="020B0502040204020203" pitchFamily="34" charset="0"/>
              <a:ea typeface="Bahnschrift" panose="020B0502040204020203" pitchFamily="34" charset="-122"/>
              <a:cs typeface="Bahnschrift" panose="020B0502040204020203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Source : </a:t>
            </a:r>
            <a:r>
              <a:rPr lang="en-US" sz="2000" dirty="0">
                <a:solidFill>
                  <a:schemeClr val="accent1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cestom.org</a:t>
            </a:r>
            <a:endParaRPr lang="en-US" sz="2000" dirty="0">
              <a:solidFill>
                <a:schemeClr val="accent1"/>
              </a:solidFill>
              <a:latin typeface="Bahnschrift" panose="020B0502040204020203" pitchFamily="34" charset="0"/>
              <a:ea typeface="Bahnschrift" panose="020B0502040204020203" pitchFamily="34" charset="-122"/>
              <a:cs typeface="Bahnschrift" panose="020B0502040204020203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  </a:t>
            </a:r>
            <a:r>
              <a:rPr lang="en-US" sz="1000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· Explore. Partage. Level-up.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 · Business case</a:t>
            </a:r>
            <a:endParaRPr lang="en-US" sz="1000" dirty="0"/>
          </a:p>
        </p:txBody>
      </p:sp>
      <p:pic>
        <p:nvPicPr>
          <p:cNvPr id="45" name="Picture 44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160" y="4218305"/>
            <a:ext cx="2146935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2377440"/>
            <a:ext cx="3291840" cy="3291840"/>
          </a:xfrm>
          <a:prstGeom prst="ellipse">
            <a:avLst/>
          </a:prstGeom>
          <a:solidFill>
            <a:srgbClr val="FFC94D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54864"/>
          </a:xfrm>
          <a:prstGeom prst="rect">
            <a:avLst/>
          </a:prstGeom>
        </p:spPr>
      </p:sp>
      <p:sp>
        <p:nvSpPr>
          <p:cNvPr id="4" name="Text 2"/>
          <p:cNvSpPr/>
          <p:nvPr/>
        </p:nvSpPr>
        <p:spPr>
          <a:xfrm>
            <a:off x="640080" y="621792"/>
            <a:ext cx="853409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 qu'on a déjà construit, et ce qu'on vous demande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74175" y="6400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8531352" cy="1783080"/>
          </a:xfrm>
          <a:prstGeom prst="roundRect">
            <a:avLst>
              <a:gd name="adj" fmla="val 3590"/>
            </a:avLst>
          </a:prstGeom>
          <a:ln w="12700">
            <a:solidFill>
              <a:srgbClr val="3FE0FF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3FE0F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4822" y="1975104"/>
            <a:ext cx="8181868" cy="18288"/>
          </a:xfrm>
          <a:prstGeom prst="rect">
            <a:avLst/>
          </a:prstGeom>
          <a:solidFill>
            <a:srgbClr val="3FE0FF">
              <a:alpha val="6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914400" y="2121408"/>
            <a:ext cx="7982712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sz="1150" dirty="0">
                <a:solidFill>
                  <a:srgbClr val="F5F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Carte, Pins, Bounties gratuites et payantes, authentification — 83/83 tests automatisés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sz="1150" dirty="0">
                <a:solidFill>
                  <a:srgbClr val="F5F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Marché de confiance payant : offres, réputation calculée, testé sous accès concurrent réel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sz="1150" dirty="0">
                <a:solidFill>
                  <a:srgbClr val="F5F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Sponsoring vérifié + notation : construits, testés bout-en-bout, audités avant mise en ligne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sz="1150" dirty="0">
                <a:solidFill>
                  <a:srgbClr val="F5F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Hébergement 100 % gratuit (aucune carte bancaire engagée) — marge protégée dès le 1er sponsor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8531352" cy="1143000"/>
          </a:xfrm>
          <a:prstGeom prst="roundRect">
            <a:avLst>
              <a:gd name="adj" fmla="val 5600"/>
            </a:avLst>
          </a:prstGeom>
          <a:ln w="12700">
            <a:solidFill>
              <a:srgbClr val="FFC94D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FFC94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2094" y="3986784"/>
            <a:ext cx="8307324" cy="18288"/>
          </a:xfrm>
          <a:prstGeom prst="rect">
            <a:avLst/>
          </a:prstGeom>
          <a:solidFill>
            <a:srgbClr val="FFC94D">
              <a:alpha val="6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914400" y="3977640"/>
            <a:ext cx="798271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C94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Ce qu'on demande : </a:t>
            </a:r>
            <a:r>
              <a:rPr lang="en-US" sz="1200" i="1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 la visibilité — l'exposition du concours suffit à amorcer la traction. Le reste suivra naturellement.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45752" y="1965960"/>
            <a:ext cx="2105863" cy="3154680"/>
          </a:xfrm>
          <a:prstGeom prst="roundRect">
            <a:avLst>
              <a:gd name="adj" fmla="val 3040"/>
            </a:avLst>
          </a:prstGeom>
          <a:ln w="12700">
            <a:solidFill>
              <a:srgbClr val="2FE894">
                <a:alpha val="70000"/>
              </a:srgbClr>
            </a:solidFill>
            <a:prstDash val="solid"/>
          </a:ln>
          <a:effectLst>
            <a:outerShdw blurRad="101600" dist="50800" dir="16200000" algn="bl" rotWithShape="0">
              <a:srgbClr val="2FE89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54911" y="1975104"/>
            <a:ext cx="1487546" cy="18288"/>
          </a:xfrm>
          <a:prstGeom prst="rect">
            <a:avLst/>
          </a:prstGeom>
          <a:solidFill>
            <a:srgbClr val="2FE894">
              <a:alpha val="6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9582912" y="2121408"/>
            <a:ext cx="1831543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E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Scanne pour tester</a:t>
            </a:r>
            <a:endParaRPr lang="en-US" sz="1100" dirty="0"/>
          </a:p>
        </p:txBody>
      </p:sp>
      <p:pic>
        <p:nvPicPr>
          <p:cNvPr id="15" name="Image 0" descr="C:\Users\Wilfried\OneDrive\Bureau\Wilfried\professionnel\CreaAfrica\pitch\qr-app-lin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444" y="2487168"/>
            <a:ext cx="1554480" cy="1554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37192" y="4151376"/>
            <a:ext cx="1922983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cestomclash228.web.app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3FE0FF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Explore. Partage. Level-up.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5897880"/>
            <a:ext cx="109115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Wilfried TSETSE · CESTOM · tsetsewilfried@gmail.com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CESTOMCLASH228  </a:t>
            </a:r>
            <a:r>
              <a:rPr lang="en-US" sz="1000" kern="0" spc="100" dirty="0">
                <a:solidFill>
                  <a:srgbClr val="A3ABB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· Explore. Partage. Level-up.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BB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 · Conclusion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3068</Words>
  <Application>WPS Presentation</Application>
  <PresentationFormat>On-screen Show (16:9)</PresentationFormat>
  <Paragraphs>141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Bahnschrift</vt:lpstr>
      <vt:lpstr>Bahnschrift</vt:lpstr>
      <vt:lpstr>Bahnschrift</vt:lpstr>
      <vt:lpstr>Segoe UI</vt:lpstr>
      <vt:lpstr>Segoe UI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CestomClash228</dc:title>
  <dc:creator>CESTOM</dc:creator>
  <dc:subject>PptxGenJS Presentation</dc:subject>
  <cp:lastModifiedBy>Wilfried</cp:lastModifiedBy>
  <cp:revision>2</cp:revision>
  <dcterms:created xsi:type="dcterms:W3CDTF">2026-09-12T11:25:00Z</dcterms:created>
  <dcterms:modified xsi:type="dcterms:W3CDTF">2026-09-12T11:30:59Z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A4331A772AFE42898C83B0ABAF839FCA_13</vt:lpwstr>
  </property>
</Properties>
</file>