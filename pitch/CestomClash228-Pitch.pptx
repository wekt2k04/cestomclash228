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760720"/>
            <a:ext cx="12191695" cy="73152"/>
          </a:xfrm>
          <a:prstGeom prst="rect">
            <a:avLst/>
          </a:prstGeom>
          <a:ln/>
        </p:spPr>
      </p:sp>
      <p:sp>
        <p:nvSpPr>
          <p:cNvPr id="3" name="Shape 1"/>
          <p:cNvSpPr/>
          <p:nvPr/>
        </p:nvSpPr>
        <p:spPr>
          <a:xfrm>
            <a:off x="10561320" y="365760"/>
            <a:ext cx="749808" cy="374904"/>
          </a:xfrm>
          <a:prstGeom prst="diamond">
            <a:avLst/>
          </a:prstGeom>
          <a:solidFill>
            <a:srgbClr val="3FE0FF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10561320" y="560710"/>
            <a:ext cx="389900" cy="464881"/>
          </a:xfrm>
          <a:prstGeom prst="parallelogram">
            <a:avLst/>
          </a:prstGeom>
          <a:solidFill>
            <a:srgbClr val="3FE0FF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21228" y="560710"/>
            <a:ext cx="389900" cy="464881"/>
          </a:xfrm>
          <a:prstGeom prst="parallelogram">
            <a:avLst/>
          </a:prstGeom>
          <a:solidFill>
            <a:srgbClr val="3FE0FF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646920" y="713232"/>
            <a:ext cx="530352" cy="265176"/>
          </a:xfrm>
          <a:prstGeom prst="diamond">
            <a:avLst/>
          </a:prstGeom>
          <a:solidFill>
            <a:srgbClr val="FFC94D">
              <a:alpha val="8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flipH="1">
            <a:off x="9646920" y="851124"/>
            <a:ext cx="275783" cy="328818"/>
          </a:xfrm>
          <a:prstGeom prst="parallelogram">
            <a:avLst/>
          </a:prstGeom>
          <a:solidFill>
            <a:srgbClr val="FFC94D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901489" y="851124"/>
            <a:ext cx="275783" cy="328818"/>
          </a:xfrm>
          <a:prstGeom prst="parallelogram">
            <a:avLst/>
          </a:prstGeom>
          <a:solidFill>
            <a:srgbClr val="FFC94D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35640" y="1024128"/>
            <a:ext cx="420624" cy="210312"/>
          </a:xfrm>
          <a:prstGeom prst="diamond">
            <a:avLst/>
          </a:prstGeom>
          <a:solidFill>
            <a:srgbClr val="2FE894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10835640" y="1133490"/>
            <a:ext cx="218724" cy="260787"/>
          </a:xfrm>
          <a:prstGeom prst="parallelogram">
            <a:avLst/>
          </a:prstGeom>
          <a:solidFill>
            <a:srgbClr val="2FE894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037540" y="1133490"/>
            <a:ext cx="218724" cy="260787"/>
          </a:xfrm>
          <a:prstGeom prst="parallelogram">
            <a:avLst/>
          </a:prstGeom>
          <a:solidFill>
            <a:srgbClr val="2FE894">
              <a:alpha val="6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0" y="210312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100" kern="0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</a:t>
            </a:r>
            <a:pPr algn="ctr" indent="0" marL="0">
              <a:buNone/>
            </a:pPr>
            <a:r>
              <a:rPr lang="en-US" sz="5200" b="1" spc="100" kern="0" dirty="0">
                <a:solidFill>
                  <a:srgbClr val="FFC9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228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E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Explore. Partage. Level-up.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plateforme qui transforme l'entraide entre étudiants togolais au Maroc en réputation — et en revenu</a:t>
            </a:r>
            <a:endParaRPr lang="en-US" sz="1300" dirty="0"/>
          </a:p>
        </p:txBody>
      </p:sp>
      <p:pic>
        <p:nvPicPr>
          <p:cNvPr id="15" name="Image 0" descr="C:\Users\Wilfried\OneDrive\Bureau\Wilfried\professionnel\CreaAfrica\assets\brand\CES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4846320"/>
            <a:ext cx="640080" cy="6400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Concours CréaAfrica 2026 · Propulsé par CESTOM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FF4D5E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 problème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Trois frictions réelles, vécues chaque semaine par un étudiant togolais au Maroc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744" y="2066544"/>
            <a:ext cx="3068970" cy="18288"/>
          </a:xfrm>
          <a:prstGeom prst="rect">
            <a:avLst/>
          </a:prstGeom>
          <a:solidFill>
            <a:srgbClr val="FF4D5E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92042" y="2203704"/>
            <a:ext cx="292608" cy="292608"/>
          </a:xfrm>
          <a:prstGeom prst="ellipse">
            <a:avLst/>
          </a:prstGeom>
          <a:solidFill>
            <a:srgbClr val="FF4D5E"/>
          </a:solidFill>
          <a:ln/>
          <a:effectLst>
            <a:outerShdw sx="100000" sy="100000" kx="0" ky="0" algn="bl" rotWithShape="0" blurRad="76200" dist="50800" dir="16200000">
              <a:srgbClr val="FF4D5E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9204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11" name="Text 9"/>
          <p:cNvSpPr/>
          <p:nvPr/>
        </p:nvSpPr>
        <p:spPr>
          <a:xfrm>
            <a:off x="868680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4D5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Information fragmentée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non indexable, non consultable après coup, aucune valeur générée pour personne.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68698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61362" y="2066544"/>
            <a:ext cx="3068970" cy="18288"/>
          </a:xfrm>
          <a:prstGeom prst="rect">
            <a:avLst/>
          </a:prstGeom>
          <a:solidFill>
            <a:srgbClr val="FF4D5E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20661" y="2203704"/>
            <a:ext cx="292608" cy="292608"/>
          </a:xfrm>
          <a:prstGeom prst="ellipse">
            <a:avLst/>
          </a:prstGeom>
          <a:solidFill>
            <a:srgbClr val="FF4D5E"/>
          </a:solidFill>
          <a:ln/>
          <a:effectLst>
            <a:outerShdw sx="100000" sy="100000" kx="0" ky="0" algn="bl" rotWithShape="0" blurRad="76200" dist="50800" dir="16200000">
              <a:srgbClr val="FF4D5E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20661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17" name="Text 15"/>
          <p:cNvSpPr/>
          <p:nvPr/>
        </p:nvSpPr>
        <p:spPr>
          <a:xfrm>
            <a:off x="4597298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4D5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Aide rendue non valorisée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7298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Celui qui aide un pair n'obtient aujourd'hui aucune reconnaissance durable, aucune trace.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7317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89981" y="2066544"/>
            <a:ext cx="3068970" cy="18288"/>
          </a:xfrm>
          <a:prstGeom prst="rect">
            <a:avLst/>
          </a:prstGeom>
          <a:solidFill>
            <a:srgbClr val="FF4D5E">
              <a:alpha val="6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149279" y="2203704"/>
            <a:ext cx="292608" cy="292608"/>
          </a:xfrm>
          <a:prstGeom prst="ellipse">
            <a:avLst/>
          </a:prstGeom>
          <a:solidFill>
            <a:srgbClr val="FF4D5E"/>
          </a:solidFill>
          <a:ln/>
          <a:effectLst>
            <a:outerShdw sx="100000" sy="100000" kx="0" ky="0" algn="bl" rotWithShape="0" blurRad="76200" dist="50800" dir="16200000">
              <a:srgbClr val="FF4D5E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149279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!</a:t>
            </a:r>
            <a:endParaRPr lang="en-US" sz="1408" dirty="0"/>
          </a:p>
        </p:txBody>
      </p:sp>
      <p:sp>
        <p:nvSpPr>
          <p:cNvPr id="23" name="Text 21"/>
          <p:cNvSpPr/>
          <p:nvPr/>
        </p:nvSpPr>
        <p:spPr>
          <a:xfrm>
            <a:off x="8325917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4D5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Isolement à l'arrivée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5917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nouvel arrivant manque des codes locaux essentiels au moment où il en a le plus besoin.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34340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242836"/>
          </a:solidFill>
          <a:ln w="12700">
            <a:solidFill>
              <a:srgbClr val="FF4D5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4D5E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0120" y="4343400"/>
            <a:ext cx="102714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"Je suis coincé à la gare de Casa-Voyageurs à 23h, qui peut m'héberger ?"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Problème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2FE894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Notre réponse directe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problème identifié a une réponse produit concrète, déjà en code — pas un vœu pieux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744" y="2066544"/>
            <a:ext cx="3068970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92042" y="2203704"/>
            <a:ext cx="292608" cy="292608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9204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11" name="Text 9"/>
          <p:cNvSpPr/>
          <p:nvPr/>
        </p:nvSpPr>
        <p:spPr>
          <a:xfrm>
            <a:off x="868680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E89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Carte par ville + Pins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68680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Informations pratiques persistantes, consultables par tous, ancrées à un lieu précis.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68698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61362" y="2066544"/>
            <a:ext cx="3068970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20661" y="2203704"/>
            <a:ext cx="292608" cy="292608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20661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17" name="Text 15"/>
          <p:cNvSpPr/>
          <p:nvPr/>
        </p:nvSpPr>
        <p:spPr>
          <a:xfrm>
            <a:off x="4597298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E89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Bounties + Notation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97298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Demande d'aide résolue → note publique (1-5) → réputation qui se construit dans la durée.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97317" y="2057400"/>
            <a:ext cx="3454298" cy="1965960"/>
          </a:xfrm>
          <a:prstGeom prst="roundRect">
            <a:avLst>
              <a:gd name="adj" fmla="val 3256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89981" y="2066544"/>
            <a:ext cx="3068970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149279" y="2203704"/>
            <a:ext cx="292608" cy="292608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1149279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8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+</a:t>
            </a:r>
            <a:endParaRPr lang="en-US" sz="1408" dirty="0"/>
          </a:p>
        </p:txBody>
      </p:sp>
      <p:sp>
        <p:nvSpPr>
          <p:cNvPr id="23" name="Text 21"/>
          <p:cNvSpPr/>
          <p:nvPr/>
        </p:nvSpPr>
        <p:spPr>
          <a:xfrm>
            <a:off x="8325917" y="2203704"/>
            <a:ext cx="290565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FE89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Ancrage CESTOM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5917" y="2679192"/>
            <a:ext cx="299709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Porté par une communauté déjà organisée sur le terrain — pas une app anonyme de plus.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86888" y="4526280"/>
            <a:ext cx="512064" cy="512064"/>
          </a:xfrm>
          <a:prstGeom prst="ellipse">
            <a:avLst/>
          </a:prstGeom>
          <a:solidFill>
            <a:srgbClr val="3FE0FF"/>
          </a:solidFill>
          <a:ln/>
          <a:effectLst>
            <a:outerShdw sx="100000" sy="100000" kx="0" ky="0" algn="bl" rotWithShape="0" blurRad="76200" dist="50800" dir="16200000">
              <a:srgbClr val="3FE0FF">
                <a:alpha val="5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86888" y="4526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64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2464" dirty="0"/>
          </a:p>
        </p:txBody>
      </p:sp>
      <p:sp>
        <p:nvSpPr>
          <p:cNvPr id="27" name="Text 25"/>
          <p:cNvSpPr/>
          <p:nvPr/>
        </p:nvSpPr>
        <p:spPr>
          <a:xfrm>
            <a:off x="2255368" y="5111496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Explore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98952" y="4782312"/>
            <a:ext cx="2596896" cy="0"/>
          </a:xfrm>
          <a:prstGeom prst="line">
            <a:avLst/>
          </a:prstGeom>
          <a:noFill/>
          <a:ln w="19050">
            <a:solidFill>
              <a:srgbClr val="363C4C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6095848" y="4526280"/>
            <a:ext cx="512064" cy="512064"/>
          </a:xfrm>
          <a:prstGeom prst="ellipse">
            <a:avLst/>
          </a:prstGeom>
          <a:solidFill>
            <a:srgbClr val="FFC94D"/>
          </a:solidFill>
          <a:ln/>
          <a:effectLst>
            <a:outerShdw sx="100000" sy="100000" kx="0" ky="0" algn="bl" rotWithShape="0" blurRad="76200" dist="50800" dir="16200000">
              <a:srgbClr val="FFC94D">
                <a:alpha val="5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95848" y="4526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64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2464" dirty="0"/>
          </a:p>
        </p:txBody>
      </p:sp>
      <p:sp>
        <p:nvSpPr>
          <p:cNvPr id="31" name="Text 29"/>
          <p:cNvSpPr/>
          <p:nvPr/>
        </p:nvSpPr>
        <p:spPr>
          <a:xfrm>
            <a:off x="5364328" y="5111496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Partage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07912" y="4782312"/>
            <a:ext cx="2596896" cy="0"/>
          </a:xfrm>
          <a:prstGeom prst="line">
            <a:avLst/>
          </a:prstGeom>
          <a:noFill/>
          <a:ln w="19050">
            <a:solidFill>
              <a:srgbClr val="363C4C"/>
            </a:solidFill>
            <a:prstDash val="sysDot"/>
          </a:ln>
        </p:spPr>
      </p:sp>
      <p:sp>
        <p:nvSpPr>
          <p:cNvPr id="33" name="Shape 31"/>
          <p:cNvSpPr/>
          <p:nvPr/>
        </p:nvSpPr>
        <p:spPr>
          <a:xfrm>
            <a:off x="9204808" y="4526280"/>
            <a:ext cx="512064" cy="512064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04808" y="4526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64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2464" dirty="0"/>
          </a:p>
        </p:txBody>
      </p:sp>
      <p:sp>
        <p:nvSpPr>
          <p:cNvPr id="35" name="Text 33"/>
          <p:cNvSpPr/>
          <p:nvPr/>
        </p:nvSpPr>
        <p:spPr>
          <a:xfrm>
            <a:off x="8473288" y="5111496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Level-up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0" y="525780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la première visite à la réputation construite — zéro friction.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Solution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3FE0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Business case : l'impact d'abord, prouvé dès le jour 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298448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bénévolat — un flux monétaire construit dès la version présentée au concours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3454298" cy="1783080"/>
          </a:xfrm>
          <a:prstGeom prst="roundRect">
            <a:avLst>
              <a:gd name="adj" fmla="val 3590"/>
            </a:avLst>
          </a:prstGeom>
          <a:ln w="12700">
            <a:solidFill>
              <a:srgbClr val="FFC94D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C94D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4822" y="1975104"/>
            <a:ext cx="3104815" cy="18288"/>
          </a:xfrm>
          <a:prstGeom prst="rect">
            <a:avLst/>
          </a:prstGeom>
          <a:solidFill>
            <a:srgbClr val="FFC94D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765194" y="2084832"/>
            <a:ext cx="274320" cy="274320"/>
          </a:xfrm>
          <a:prstGeom prst="ellipse">
            <a:avLst/>
          </a:prstGeom>
          <a:solidFill>
            <a:srgbClr val="FFC94D"/>
          </a:solidFill>
          <a:ln/>
          <a:effectLst>
            <a:outerShdw sx="100000" sy="100000" kx="0" ky="0" algn="bl" rotWithShape="0" blurRad="76200" dist="50800" dir="16200000">
              <a:srgbClr val="FFC94D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65194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41248" y="21031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C9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Maintenant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23774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Sponsoring vérifié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1248" y="2971800"/>
            <a:ext cx="305196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acteur qui veut un privilège (Pin mis en avant) fait un virement réel vers un compte CESTOM dédié, soumet une preuve dans l'app, un vérificateur valide. 0 % prélevé par une passerelle de paiement tierce — tout reste dans le circuit CESTOM.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98" y="1965960"/>
            <a:ext cx="3454298" cy="1783080"/>
          </a:xfrm>
          <a:prstGeom prst="roundRect">
            <a:avLst>
              <a:gd name="adj" fmla="val 3590"/>
            </a:avLst>
          </a:prstGeom>
          <a:ln w="12700">
            <a:solidFill>
              <a:srgbClr val="3FE0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3FE0FF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43440" y="1975104"/>
            <a:ext cx="3104815" cy="18288"/>
          </a:xfrm>
          <a:prstGeom prst="rect">
            <a:avLst/>
          </a:prstGeom>
          <a:solidFill>
            <a:srgbClr val="3FE0FF">
              <a:alpha val="6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493813" y="2084832"/>
            <a:ext cx="274320" cy="274320"/>
          </a:xfrm>
          <a:prstGeom prst="ellipse">
            <a:avLst/>
          </a:prstGeom>
          <a:solidFill>
            <a:srgbClr val="3FE0FF"/>
          </a:solidFill>
          <a:ln/>
          <a:effectLst>
            <a:outerShdw sx="100000" sy="100000" kx="0" ky="0" algn="bl" rotWithShape="0" blurRad="76200" dist="50800" dir="16200000">
              <a:srgbClr val="3FE0FF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3813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4569866" y="21031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E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Après traction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69866" y="23774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Commission sur services rendus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69866" y="2971800"/>
            <a:ext cx="305196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 la confiance et l'usage établis via la Phase 1, commission sur les mises en relation payantes entre étudiants.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97317" y="1965960"/>
            <a:ext cx="3454298" cy="1783080"/>
          </a:xfrm>
          <a:prstGeom prst="roundRect">
            <a:avLst>
              <a:gd name="adj" fmla="val 3590"/>
            </a:avLst>
          </a:prstGeom>
          <a:ln w="12700">
            <a:solidFill>
              <a:srgbClr val="2FE89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2FE894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72059" y="1975104"/>
            <a:ext cx="3104815" cy="18288"/>
          </a:xfrm>
          <a:prstGeom prst="rect">
            <a:avLst/>
          </a:prstGeom>
          <a:solidFill>
            <a:srgbClr val="2FE894">
              <a:alpha val="6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22431" y="2084832"/>
            <a:ext cx="274320" cy="274320"/>
          </a:xfrm>
          <a:prstGeom prst="ellipse">
            <a:avLst/>
          </a:prstGeom>
          <a:solidFill>
            <a:srgbClr val="2FE894"/>
          </a:solidFill>
          <a:ln/>
          <a:effectLst>
            <a:outerShdw sx="100000" sy="100000" kx="0" ky="0" algn="bl" rotWithShape="0" blurRad="76200" dist="50800" dir="16200000">
              <a:srgbClr val="2FE894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222431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4161C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8298485" y="2103120"/>
            <a:ext cx="29056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8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— Vision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98485" y="23774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Licence à d'autres diasporas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298485" y="2971800"/>
            <a:ext cx="305196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(carte, réputation, sponsoring vérifié, modération spatiale) transposable à toute communauté étudiante structurée autour d'une association reconnue.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40690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242836"/>
          </a:solidFill>
          <a:ln w="12700">
            <a:solidFill>
              <a:srgbClr val="363C4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63587" y="4758171"/>
            <a:ext cx="362390" cy="16070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87355" y="4774241"/>
            <a:ext cx="638622" cy="86061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3000" y="4774241"/>
            <a:ext cx="782977" cy="529279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5977" y="4755411"/>
            <a:ext cx="317173" cy="18830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25977" y="4361688"/>
            <a:ext cx="9513" cy="412553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25977" y="4606355"/>
            <a:ext cx="1457303" cy="167886"/>
          </a:xfrm>
          <a:prstGeom prst="line">
            <a:avLst/>
          </a:prstGeom>
          <a:noFill/>
          <a:ln w="9525">
            <a:solidFill>
              <a:srgbClr val="3FE0FF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53859" y="4648443"/>
            <a:ext cx="219456" cy="219456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187315" y="4760262"/>
            <a:ext cx="200080" cy="200080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68068" y="5228588"/>
            <a:ext cx="149865" cy="149865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171826" y="4684086"/>
            <a:ext cx="142650" cy="142650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883973" y="4310171"/>
            <a:ext cx="103035" cy="103035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337560" y="4560635"/>
            <a:ext cx="91440" cy="91440"/>
          </a:xfrm>
          <a:prstGeom prst="ellipse">
            <a:avLst/>
          </a:prstGeom>
          <a:solidFill>
            <a:srgbClr val="FFC94D"/>
          </a:solidFill>
          <a:ln w="9525">
            <a:solidFill>
              <a:srgbClr val="14161C"/>
            </a:solidFill>
            <a:prstDash val="solid"/>
          </a:ln>
          <a:effectLst>
            <a:outerShdw sx="100000" sy="100000" kx="0" ky="0" algn="bl" rotWithShape="0" blurRad="63500" dist="50800" dir="16200000">
              <a:srgbClr val="FFC94D">
                <a:alpha val="4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68680" y="546811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Rabat 220  ·  Casablanca 180  ·  Marrakech 95  ·  Fès 85  ·  Tanger 40  ·  Oujda 30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480560" y="4069080"/>
            <a:ext cx="7071055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C94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650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membres CESTOM, 6 villes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Source : cestom.org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Business case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02975" y="2377440"/>
            <a:ext cx="3291840" cy="3291840"/>
          </a:xfrm>
          <a:prstGeom prst="ellipse">
            <a:avLst/>
          </a:prstGeom>
          <a:solidFill>
            <a:srgbClr val="FFC94D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1005840" cy="54864"/>
          </a:xfrm>
          <a:prstGeom prst="rect">
            <a:avLst/>
          </a:prstGeom>
          <a:ln/>
        </p:spPr>
      </p:sp>
      <p:sp>
        <p:nvSpPr>
          <p:cNvPr id="4" name="Text 2"/>
          <p:cNvSpPr/>
          <p:nvPr/>
        </p:nvSpPr>
        <p:spPr>
          <a:xfrm>
            <a:off x="640080" y="621792"/>
            <a:ext cx="85340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3EE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 qu'on a déjà construit, et ce qu'on vous demande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74175" y="640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10911535" cy="1783080"/>
          </a:xfrm>
          <a:prstGeom prst="roundRect">
            <a:avLst>
              <a:gd name="adj" fmla="val 3590"/>
            </a:avLst>
          </a:prstGeom>
          <a:ln w="12700">
            <a:solidFill>
              <a:srgbClr val="3FE0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3FE0FF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4822" y="1975104"/>
            <a:ext cx="10562052" cy="18288"/>
          </a:xfrm>
          <a:prstGeom prst="rect">
            <a:avLst/>
          </a:prstGeom>
          <a:solidFill>
            <a:srgbClr val="3FE0FF">
              <a:alpha val="6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Carte, demandes d'aide, authentification, gouvernance à 2 niveaux — code fonctionnel, testé (59/59 tests automatisés)</a:t>
            </a:r>
            <a:endParaRPr lang="en-US" sz="1300" dirty="0"/>
          </a:p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Direction visuelle afro-futuriste appliquée au produit réel (palette, écran d'accueil)</a:t>
            </a:r>
            <a:endParaRPr lang="en-US" sz="1300" dirty="0"/>
          </a:p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Sponsoring vérifié + notation : construits, testés bout-en-bout, audités avant mise en ligne</a:t>
            </a:r>
            <a:endParaRPr lang="en-US" sz="1300" dirty="0"/>
          </a:p>
          <a:p>
            <a:pPr marL="342900" indent="-342900">
              <a:lnSpc>
                <a:spcPct val="145000"/>
              </a:lnSpc>
              <a:buSzPct val="100000"/>
              <a:buChar char="▸"/>
            </a:pPr>
            <a:r>
              <a:rPr lang="en-US" sz="1300" dirty="0">
                <a:solidFill>
                  <a:srgbClr val="F5F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Hébergement 100 % gratuit (aucune carte bancaire engagée) — marge protégée dès le 1er sponsor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11535" cy="1143000"/>
          </a:xfrm>
          <a:prstGeom prst="roundRect">
            <a:avLst>
              <a:gd name="adj" fmla="val 5600"/>
            </a:avLst>
          </a:prstGeom>
          <a:ln w="12700">
            <a:solidFill>
              <a:srgbClr val="FFC94D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50800" dir="16200000">
              <a:srgbClr val="FFC94D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52094" y="3986784"/>
            <a:ext cx="10687507" cy="18288"/>
          </a:xfrm>
          <a:prstGeom prst="rect">
            <a:avLst/>
          </a:prstGeom>
          <a:solidFill>
            <a:srgbClr val="FFC94D">
              <a:alpha val="6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977640"/>
            <a:ext cx="1027145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C9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qu'on demande : </a:t>
            </a:r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la visibilité — l'exposition du concours suffit à amorcer la traction. Le reste suivra naturellement.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3FE0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Explore. Partage. Level-up.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8978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Wilfried TSETSE · CESTOM · tsetsewilfried@gmail.com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CESTOMCLASH228  </a:t>
            </a:r>
            <a:pPr indent="0" marL="0">
              <a:buNone/>
            </a:pPr>
            <a:r>
              <a:rPr lang="en-US" sz="1000" spc="100" kern="0" dirty="0">
                <a:solidFill>
                  <a:srgbClr val="A3ABBD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· Explore. Partage. Level-up.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94015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BB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Conclusion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CestomClash228</dc:title>
  <dc:subject>PptxGenJS Presentation</dc:subject>
  <dc:creator>CESTOM</dc:creator>
  <cp:lastModifiedBy>CESTOM</cp:lastModifiedBy>
  <cp:revision>1</cp:revision>
  <dcterms:created xsi:type="dcterms:W3CDTF">2026-09-05T01:05:26Z</dcterms:created>
  <dcterms:modified xsi:type="dcterms:W3CDTF">2026-09-05T01:05:26Z</dcterms:modified>
</cp:coreProperties>
</file>